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grandir Grand Bold" charset="1" panose="00000807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4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Relationship Id="rId6" Target="../media/image4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4873" y="-1177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01673" y="73501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41950" y="3410316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0" y="0"/>
                </a:moveTo>
                <a:lnTo>
                  <a:pt x="4839225" y="0"/>
                </a:lnTo>
                <a:lnTo>
                  <a:pt x="4839225" y="4361352"/>
                </a:lnTo>
                <a:lnTo>
                  <a:pt x="0" y="4361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374873" y="2422890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4839225" y="0"/>
                </a:moveTo>
                <a:lnTo>
                  <a:pt x="0" y="0"/>
                </a:lnTo>
                <a:lnTo>
                  <a:pt x="0" y="4361352"/>
                </a:lnTo>
                <a:lnTo>
                  <a:pt x="4839225" y="4361352"/>
                </a:lnTo>
                <a:lnTo>
                  <a:pt x="4839225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3853" y="3139891"/>
            <a:ext cx="14160294" cy="199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Actividad 3.2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0040" y="5823915"/>
            <a:ext cx="802792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Ivan Ariel Rebollar León | A01737891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Bruno Alejandro Domínguez Ma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ldonado | A01738844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Omar Kuri Vázquez | A01738129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Erik García Cruz | A01732440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970938" y="6358731"/>
            <a:ext cx="5254908" cy="4735986"/>
          </a:xfrm>
          <a:custGeom>
            <a:avLst/>
            <a:gdLst/>
            <a:ahLst/>
            <a:cxnLst/>
            <a:rect r="r" b="b" t="t" l="l"/>
            <a:pathLst>
              <a:path h="4735986" w="5254908">
                <a:moveTo>
                  <a:pt x="5254908" y="0"/>
                </a:moveTo>
                <a:lnTo>
                  <a:pt x="0" y="0"/>
                </a:lnTo>
                <a:lnTo>
                  <a:pt x="0" y="4735986"/>
                </a:lnTo>
                <a:lnTo>
                  <a:pt x="5254908" y="4735986"/>
                </a:lnTo>
                <a:lnTo>
                  <a:pt x="525490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54729" y="-171097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308579"/>
            <a:ext cx="9258753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6999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Planteamiento del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45901"/>
            <a:ext cx="7788066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Realizar un análisis cinemático completo del movimiento del Puzzlebot a partir de las señales de velocidad publicadas en el tópico /cmd_vel de ROS.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 ROS, el tópico /cmd_vel es el canal estándar para enviar órdenes de velocidad a un robot móvil.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nodo 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Puzzlebot Sim  es el simulador virtual que reproduce el movimiento del Puzzlebot a partir de señales de velocidad.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453" y="2403829"/>
            <a:ext cx="6819367" cy="6231196"/>
          </a:xfrm>
          <a:custGeom>
            <a:avLst/>
            <a:gdLst/>
            <a:ahLst/>
            <a:cxnLst/>
            <a:rect r="r" b="b" t="t" l="l"/>
            <a:pathLst>
              <a:path h="6231196" w="6819367">
                <a:moveTo>
                  <a:pt x="0" y="0"/>
                </a:moveTo>
                <a:lnTo>
                  <a:pt x="6819366" y="0"/>
                </a:lnTo>
                <a:lnTo>
                  <a:pt x="6819366" y="6231196"/>
                </a:lnTo>
                <a:lnTo>
                  <a:pt x="0" y="62311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6" t="0" r="-206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75296" y="2841587"/>
            <a:ext cx="8084004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6999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Modelo matemático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75296" y="6224717"/>
            <a:ext cx="7788066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Estas ecuaciones representan la cinemática diferencial del Puzzlebot.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Permiten calcular la posición (x,y), la orientación (   ) y la relación ent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 la velocidad del robot y las velocidades angulares de sus ruedas, lo que define la trayectoria simulada.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74873" y="-1177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839687" y="6793555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4839226" y="0"/>
                </a:moveTo>
                <a:lnTo>
                  <a:pt x="0" y="0"/>
                </a:lnTo>
                <a:lnTo>
                  <a:pt x="0" y="4361352"/>
                </a:lnTo>
                <a:lnTo>
                  <a:pt x="4839226" y="4361352"/>
                </a:lnTo>
                <a:lnTo>
                  <a:pt x="483922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19913" y="3005228"/>
            <a:ext cx="4173603" cy="5292129"/>
          </a:xfrm>
          <a:custGeom>
            <a:avLst/>
            <a:gdLst/>
            <a:ahLst/>
            <a:cxnLst/>
            <a:rect r="r" b="b" t="t" l="l"/>
            <a:pathLst>
              <a:path h="5292129" w="4173603">
                <a:moveTo>
                  <a:pt x="0" y="0"/>
                </a:moveTo>
                <a:lnTo>
                  <a:pt x="4173603" y="0"/>
                </a:lnTo>
                <a:lnTo>
                  <a:pt x="4173603" y="5292129"/>
                </a:lnTo>
                <a:lnTo>
                  <a:pt x="0" y="52921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2" r="0" b="-23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84351" y="7153300"/>
            <a:ext cx="254455" cy="293861"/>
          </a:xfrm>
          <a:custGeom>
            <a:avLst/>
            <a:gdLst/>
            <a:ahLst/>
            <a:cxnLst/>
            <a:rect r="r" b="b" t="t" l="l"/>
            <a:pathLst>
              <a:path h="293861" w="254455">
                <a:moveTo>
                  <a:pt x="0" y="0"/>
                </a:moveTo>
                <a:lnTo>
                  <a:pt x="254455" y="0"/>
                </a:lnTo>
                <a:lnTo>
                  <a:pt x="254455" y="293861"/>
                </a:lnTo>
                <a:lnTo>
                  <a:pt x="0" y="293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9174" t="-445985" r="-1006144" b="-838707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100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4253379" y="5925648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4839225" y="0"/>
                </a:moveTo>
                <a:lnTo>
                  <a:pt x="0" y="0"/>
                </a:lnTo>
                <a:lnTo>
                  <a:pt x="0" y="4361352"/>
                </a:lnTo>
                <a:lnTo>
                  <a:pt x="4839225" y="4361352"/>
                </a:lnTo>
                <a:lnTo>
                  <a:pt x="483922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390913" y="-1483162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4839226" y="0"/>
                </a:moveTo>
                <a:lnTo>
                  <a:pt x="0" y="0"/>
                </a:lnTo>
                <a:lnTo>
                  <a:pt x="0" y="4361352"/>
                </a:lnTo>
                <a:lnTo>
                  <a:pt x="4839226" y="4361352"/>
                </a:lnTo>
                <a:lnTo>
                  <a:pt x="483922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0031" y="2143125"/>
            <a:ext cx="8323858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6999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Metodología de simulación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0031" y="4326196"/>
            <a:ext cx="7788066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 simulación se desarrolló siguiendo una secuencia de pasos: primero se definió el tiempo de muestreo y las condiciones iniciales del Puzzlebot; posteriormente se asignaron las velocidades lineal y angular para cada trayectoria.</a:t>
            </a:r>
          </a:p>
          <a:p>
            <a:pPr algn="l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 estas señales, se aplicó el método de Eu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ler para actualizar la pose del robot en cada instante de tiempo, obteniendo la trayectoria en el plano y las gráficas de posición, orientación y velocidades de las ruedas.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897726" y="1417559"/>
            <a:ext cx="4232067" cy="820817"/>
            <a:chOff x="0" y="0"/>
            <a:chExt cx="1114618" cy="2161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4618" cy="216182"/>
            </a:xfrm>
            <a:custGeom>
              <a:avLst/>
              <a:gdLst/>
              <a:ahLst/>
              <a:cxnLst/>
              <a:rect r="r" b="b" t="t" l="l"/>
              <a:pathLst>
                <a:path h="216182" w="1114618">
                  <a:moveTo>
                    <a:pt x="93297" y="0"/>
                  </a:moveTo>
                  <a:lnTo>
                    <a:pt x="1021322" y="0"/>
                  </a:lnTo>
                  <a:cubicBezTo>
                    <a:pt x="1046066" y="0"/>
                    <a:pt x="1069796" y="9829"/>
                    <a:pt x="1087293" y="27326"/>
                  </a:cubicBezTo>
                  <a:cubicBezTo>
                    <a:pt x="1104789" y="44823"/>
                    <a:pt x="1114618" y="68553"/>
                    <a:pt x="1114618" y="93297"/>
                  </a:cubicBezTo>
                  <a:lnTo>
                    <a:pt x="1114618" y="122885"/>
                  </a:lnTo>
                  <a:cubicBezTo>
                    <a:pt x="1114618" y="147629"/>
                    <a:pt x="1104789" y="171360"/>
                    <a:pt x="1087293" y="188856"/>
                  </a:cubicBezTo>
                  <a:cubicBezTo>
                    <a:pt x="1069796" y="206353"/>
                    <a:pt x="1046066" y="216182"/>
                    <a:pt x="1021322" y="216182"/>
                  </a:cubicBezTo>
                  <a:lnTo>
                    <a:pt x="93297" y="216182"/>
                  </a:lnTo>
                  <a:cubicBezTo>
                    <a:pt x="68553" y="216182"/>
                    <a:pt x="44823" y="206353"/>
                    <a:pt x="27326" y="188856"/>
                  </a:cubicBezTo>
                  <a:cubicBezTo>
                    <a:pt x="9829" y="171360"/>
                    <a:pt x="0" y="147629"/>
                    <a:pt x="0" y="122885"/>
                  </a:cubicBezTo>
                  <a:lnTo>
                    <a:pt x="0" y="93297"/>
                  </a:lnTo>
                  <a:cubicBezTo>
                    <a:pt x="0" y="68553"/>
                    <a:pt x="9829" y="44823"/>
                    <a:pt x="27326" y="27326"/>
                  </a:cubicBezTo>
                  <a:cubicBezTo>
                    <a:pt x="44823" y="9829"/>
                    <a:pt x="68553" y="0"/>
                    <a:pt x="9329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14618" cy="26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518872" y="1610797"/>
            <a:ext cx="498977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Definit tiempo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897726" y="2685397"/>
            <a:ext cx="4232067" cy="820817"/>
            <a:chOff x="0" y="0"/>
            <a:chExt cx="1114618" cy="2161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4618" cy="216182"/>
            </a:xfrm>
            <a:custGeom>
              <a:avLst/>
              <a:gdLst/>
              <a:ahLst/>
              <a:cxnLst/>
              <a:rect r="r" b="b" t="t" l="l"/>
              <a:pathLst>
                <a:path h="216182" w="1114618">
                  <a:moveTo>
                    <a:pt x="93297" y="0"/>
                  </a:moveTo>
                  <a:lnTo>
                    <a:pt x="1021322" y="0"/>
                  </a:lnTo>
                  <a:cubicBezTo>
                    <a:pt x="1046066" y="0"/>
                    <a:pt x="1069796" y="9829"/>
                    <a:pt x="1087293" y="27326"/>
                  </a:cubicBezTo>
                  <a:cubicBezTo>
                    <a:pt x="1104789" y="44823"/>
                    <a:pt x="1114618" y="68553"/>
                    <a:pt x="1114618" y="93297"/>
                  </a:cubicBezTo>
                  <a:lnTo>
                    <a:pt x="1114618" y="122885"/>
                  </a:lnTo>
                  <a:cubicBezTo>
                    <a:pt x="1114618" y="147629"/>
                    <a:pt x="1104789" y="171360"/>
                    <a:pt x="1087293" y="188856"/>
                  </a:cubicBezTo>
                  <a:cubicBezTo>
                    <a:pt x="1069796" y="206353"/>
                    <a:pt x="1046066" y="216182"/>
                    <a:pt x="1021322" y="216182"/>
                  </a:cubicBezTo>
                  <a:lnTo>
                    <a:pt x="93297" y="216182"/>
                  </a:lnTo>
                  <a:cubicBezTo>
                    <a:pt x="68553" y="216182"/>
                    <a:pt x="44823" y="206353"/>
                    <a:pt x="27326" y="188856"/>
                  </a:cubicBezTo>
                  <a:cubicBezTo>
                    <a:pt x="9829" y="171360"/>
                    <a:pt x="0" y="147629"/>
                    <a:pt x="0" y="122885"/>
                  </a:cubicBezTo>
                  <a:lnTo>
                    <a:pt x="0" y="93297"/>
                  </a:lnTo>
                  <a:cubicBezTo>
                    <a:pt x="0" y="68553"/>
                    <a:pt x="9829" y="44823"/>
                    <a:pt x="27326" y="27326"/>
                  </a:cubicBezTo>
                  <a:cubicBezTo>
                    <a:pt x="44823" y="9829"/>
                    <a:pt x="68553" y="0"/>
                    <a:pt x="9329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14618" cy="26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518872" y="2878635"/>
            <a:ext cx="498977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Condiciones iniciales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897726" y="3953888"/>
            <a:ext cx="4232067" cy="820817"/>
            <a:chOff x="0" y="0"/>
            <a:chExt cx="1114618" cy="2161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4618" cy="216182"/>
            </a:xfrm>
            <a:custGeom>
              <a:avLst/>
              <a:gdLst/>
              <a:ahLst/>
              <a:cxnLst/>
              <a:rect r="r" b="b" t="t" l="l"/>
              <a:pathLst>
                <a:path h="216182" w="1114618">
                  <a:moveTo>
                    <a:pt x="93297" y="0"/>
                  </a:moveTo>
                  <a:lnTo>
                    <a:pt x="1021322" y="0"/>
                  </a:lnTo>
                  <a:cubicBezTo>
                    <a:pt x="1046066" y="0"/>
                    <a:pt x="1069796" y="9829"/>
                    <a:pt x="1087293" y="27326"/>
                  </a:cubicBezTo>
                  <a:cubicBezTo>
                    <a:pt x="1104789" y="44823"/>
                    <a:pt x="1114618" y="68553"/>
                    <a:pt x="1114618" y="93297"/>
                  </a:cubicBezTo>
                  <a:lnTo>
                    <a:pt x="1114618" y="122885"/>
                  </a:lnTo>
                  <a:cubicBezTo>
                    <a:pt x="1114618" y="147629"/>
                    <a:pt x="1104789" y="171360"/>
                    <a:pt x="1087293" y="188856"/>
                  </a:cubicBezTo>
                  <a:cubicBezTo>
                    <a:pt x="1069796" y="206353"/>
                    <a:pt x="1046066" y="216182"/>
                    <a:pt x="1021322" y="216182"/>
                  </a:cubicBezTo>
                  <a:lnTo>
                    <a:pt x="93297" y="216182"/>
                  </a:lnTo>
                  <a:cubicBezTo>
                    <a:pt x="68553" y="216182"/>
                    <a:pt x="44823" y="206353"/>
                    <a:pt x="27326" y="188856"/>
                  </a:cubicBezTo>
                  <a:cubicBezTo>
                    <a:pt x="9829" y="171360"/>
                    <a:pt x="0" y="147629"/>
                    <a:pt x="0" y="122885"/>
                  </a:cubicBezTo>
                  <a:lnTo>
                    <a:pt x="0" y="93297"/>
                  </a:lnTo>
                  <a:cubicBezTo>
                    <a:pt x="0" y="68553"/>
                    <a:pt x="9829" y="44823"/>
                    <a:pt x="27326" y="27326"/>
                  </a:cubicBezTo>
                  <a:cubicBezTo>
                    <a:pt x="44823" y="9829"/>
                    <a:pt x="68553" y="0"/>
                    <a:pt x="9329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14618" cy="26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518872" y="4147126"/>
            <a:ext cx="498977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Asignar velocidades (u, w)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897726" y="5222380"/>
            <a:ext cx="4232067" cy="820817"/>
            <a:chOff x="0" y="0"/>
            <a:chExt cx="1114618" cy="2161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4618" cy="216182"/>
            </a:xfrm>
            <a:custGeom>
              <a:avLst/>
              <a:gdLst/>
              <a:ahLst/>
              <a:cxnLst/>
              <a:rect r="r" b="b" t="t" l="l"/>
              <a:pathLst>
                <a:path h="216182" w="1114618">
                  <a:moveTo>
                    <a:pt x="93297" y="0"/>
                  </a:moveTo>
                  <a:lnTo>
                    <a:pt x="1021322" y="0"/>
                  </a:lnTo>
                  <a:cubicBezTo>
                    <a:pt x="1046066" y="0"/>
                    <a:pt x="1069796" y="9829"/>
                    <a:pt x="1087293" y="27326"/>
                  </a:cubicBezTo>
                  <a:cubicBezTo>
                    <a:pt x="1104789" y="44823"/>
                    <a:pt x="1114618" y="68553"/>
                    <a:pt x="1114618" y="93297"/>
                  </a:cubicBezTo>
                  <a:lnTo>
                    <a:pt x="1114618" y="122885"/>
                  </a:lnTo>
                  <a:cubicBezTo>
                    <a:pt x="1114618" y="147629"/>
                    <a:pt x="1104789" y="171360"/>
                    <a:pt x="1087293" y="188856"/>
                  </a:cubicBezTo>
                  <a:cubicBezTo>
                    <a:pt x="1069796" y="206353"/>
                    <a:pt x="1046066" y="216182"/>
                    <a:pt x="1021322" y="216182"/>
                  </a:cubicBezTo>
                  <a:lnTo>
                    <a:pt x="93297" y="216182"/>
                  </a:lnTo>
                  <a:cubicBezTo>
                    <a:pt x="68553" y="216182"/>
                    <a:pt x="44823" y="206353"/>
                    <a:pt x="27326" y="188856"/>
                  </a:cubicBezTo>
                  <a:cubicBezTo>
                    <a:pt x="9829" y="171360"/>
                    <a:pt x="0" y="147629"/>
                    <a:pt x="0" y="122885"/>
                  </a:cubicBezTo>
                  <a:lnTo>
                    <a:pt x="0" y="93297"/>
                  </a:lnTo>
                  <a:cubicBezTo>
                    <a:pt x="0" y="68553"/>
                    <a:pt x="9829" y="44823"/>
                    <a:pt x="27326" y="27326"/>
                  </a:cubicBezTo>
                  <a:cubicBezTo>
                    <a:pt x="44823" y="9829"/>
                    <a:pt x="68553" y="0"/>
                    <a:pt x="9329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114618" cy="26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518872" y="5415618"/>
            <a:ext cx="498977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Método de Euler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897726" y="6490871"/>
            <a:ext cx="4232067" cy="820817"/>
            <a:chOff x="0" y="0"/>
            <a:chExt cx="1114618" cy="2161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4618" cy="216182"/>
            </a:xfrm>
            <a:custGeom>
              <a:avLst/>
              <a:gdLst/>
              <a:ahLst/>
              <a:cxnLst/>
              <a:rect r="r" b="b" t="t" l="l"/>
              <a:pathLst>
                <a:path h="216182" w="1114618">
                  <a:moveTo>
                    <a:pt x="93297" y="0"/>
                  </a:moveTo>
                  <a:lnTo>
                    <a:pt x="1021322" y="0"/>
                  </a:lnTo>
                  <a:cubicBezTo>
                    <a:pt x="1046066" y="0"/>
                    <a:pt x="1069796" y="9829"/>
                    <a:pt x="1087293" y="27326"/>
                  </a:cubicBezTo>
                  <a:cubicBezTo>
                    <a:pt x="1104789" y="44823"/>
                    <a:pt x="1114618" y="68553"/>
                    <a:pt x="1114618" y="93297"/>
                  </a:cubicBezTo>
                  <a:lnTo>
                    <a:pt x="1114618" y="122885"/>
                  </a:lnTo>
                  <a:cubicBezTo>
                    <a:pt x="1114618" y="147629"/>
                    <a:pt x="1104789" y="171360"/>
                    <a:pt x="1087293" y="188856"/>
                  </a:cubicBezTo>
                  <a:cubicBezTo>
                    <a:pt x="1069796" y="206353"/>
                    <a:pt x="1046066" y="216182"/>
                    <a:pt x="1021322" y="216182"/>
                  </a:cubicBezTo>
                  <a:lnTo>
                    <a:pt x="93297" y="216182"/>
                  </a:lnTo>
                  <a:cubicBezTo>
                    <a:pt x="68553" y="216182"/>
                    <a:pt x="44823" y="206353"/>
                    <a:pt x="27326" y="188856"/>
                  </a:cubicBezTo>
                  <a:cubicBezTo>
                    <a:pt x="9829" y="171360"/>
                    <a:pt x="0" y="147629"/>
                    <a:pt x="0" y="122885"/>
                  </a:cubicBezTo>
                  <a:lnTo>
                    <a:pt x="0" y="93297"/>
                  </a:lnTo>
                  <a:cubicBezTo>
                    <a:pt x="0" y="68553"/>
                    <a:pt x="9829" y="44823"/>
                    <a:pt x="27326" y="27326"/>
                  </a:cubicBezTo>
                  <a:cubicBezTo>
                    <a:pt x="44823" y="9829"/>
                    <a:pt x="68553" y="0"/>
                    <a:pt x="9329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14618" cy="26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518872" y="6684109"/>
            <a:ext cx="498977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Actualizar pose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97726" y="7759363"/>
            <a:ext cx="4232067" cy="820817"/>
            <a:chOff x="0" y="0"/>
            <a:chExt cx="1114618" cy="2161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4618" cy="216182"/>
            </a:xfrm>
            <a:custGeom>
              <a:avLst/>
              <a:gdLst/>
              <a:ahLst/>
              <a:cxnLst/>
              <a:rect r="r" b="b" t="t" l="l"/>
              <a:pathLst>
                <a:path h="216182" w="1114618">
                  <a:moveTo>
                    <a:pt x="93297" y="0"/>
                  </a:moveTo>
                  <a:lnTo>
                    <a:pt x="1021322" y="0"/>
                  </a:lnTo>
                  <a:cubicBezTo>
                    <a:pt x="1046066" y="0"/>
                    <a:pt x="1069796" y="9829"/>
                    <a:pt x="1087293" y="27326"/>
                  </a:cubicBezTo>
                  <a:cubicBezTo>
                    <a:pt x="1104789" y="44823"/>
                    <a:pt x="1114618" y="68553"/>
                    <a:pt x="1114618" y="93297"/>
                  </a:cubicBezTo>
                  <a:lnTo>
                    <a:pt x="1114618" y="122885"/>
                  </a:lnTo>
                  <a:cubicBezTo>
                    <a:pt x="1114618" y="147629"/>
                    <a:pt x="1104789" y="171360"/>
                    <a:pt x="1087293" y="188856"/>
                  </a:cubicBezTo>
                  <a:cubicBezTo>
                    <a:pt x="1069796" y="206353"/>
                    <a:pt x="1046066" y="216182"/>
                    <a:pt x="1021322" y="216182"/>
                  </a:cubicBezTo>
                  <a:lnTo>
                    <a:pt x="93297" y="216182"/>
                  </a:lnTo>
                  <a:cubicBezTo>
                    <a:pt x="68553" y="216182"/>
                    <a:pt x="44823" y="206353"/>
                    <a:pt x="27326" y="188856"/>
                  </a:cubicBezTo>
                  <a:cubicBezTo>
                    <a:pt x="9829" y="171360"/>
                    <a:pt x="0" y="147629"/>
                    <a:pt x="0" y="122885"/>
                  </a:cubicBezTo>
                  <a:lnTo>
                    <a:pt x="0" y="93297"/>
                  </a:lnTo>
                  <a:cubicBezTo>
                    <a:pt x="0" y="68553"/>
                    <a:pt x="9829" y="44823"/>
                    <a:pt x="27326" y="27326"/>
                  </a:cubicBezTo>
                  <a:cubicBezTo>
                    <a:pt x="44823" y="9829"/>
                    <a:pt x="68553" y="0"/>
                    <a:pt x="9329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114618" cy="26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518872" y="7952601"/>
            <a:ext cx="498977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Simulación 3D y gráficas</a:t>
            </a:r>
          </a:p>
        </p:txBody>
      </p:sp>
      <p:sp>
        <p:nvSpPr>
          <p:cNvPr name="AutoShape 34" id="34"/>
          <p:cNvSpPr/>
          <p:nvPr/>
        </p:nvSpPr>
        <p:spPr>
          <a:xfrm flipH="true">
            <a:off x="14013759" y="2295516"/>
            <a:ext cx="0" cy="3898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13951029" y="3621352"/>
            <a:ext cx="62730" cy="33253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H="true">
            <a:off x="14013759" y="4931688"/>
            <a:ext cx="35056" cy="29069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>
            <a:off x="14013759" y="6081509"/>
            <a:ext cx="0" cy="40936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>
            <a:off x="13888299" y="7254945"/>
            <a:ext cx="125460" cy="50441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81380" y="-1028700"/>
            <a:ext cx="5007588" cy="5007588"/>
          </a:xfrm>
          <a:custGeom>
            <a:avLst/>
            <a:gdLst/>
            <a:ahLst/>
            <a:cxnLst/>
            <a:rect r="r" b="b" t="t" l="l"/>
            <a:pathLst>
              <a:path h="5007588" w="5007588">
                <a:moveTo>
                  <a:pt x="0" y="0"/>
                </a:moveTo>
                <a:lnTo>
                  <a:pt x="5007589" y="0"/>
                </a:lnTo>
                <a:lnTo>
                  <a:pt x="5007589" y="5007588"/>
                </a:lnTo>
                <a:lnTo>
                  <a:pt x="0" y="5007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7210185" cy="8229600"/>
            <a:chOff x="0" y="0"/>
            <a:chExt cx="2531915" cy="2889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1915" cy="2889890"/>
            </a:xfrm>
            <a:custGeom>
              <a:avLst/>
              <a:gdLst/>
              <a:ahLst/>
              <a:cxnLst/>
              <a:rect r="r" b="b" t="t" l="l"/>
              <a:pathLst>
                <a:path h="2889890" w="2531915">
                  <a:moveTo>
                    <a:pt x="24696" y="0"/>
                  </a:moveTo>
                  <a:lnTo>
                    <a:pt x="2507219" y="0"/>
                  </a:lnTo>
                  <a:cubicBezTo>
                    <a:pt x="2520858" y="0"/>
                    <a:pt x="2531915" y="11057"/>
                    <a:pt x="2531915" y="24696"/>
                  </a:cubicBezTo>
                  <a:lnTo>
                    <a:pt x="2531915" y="2865194"/>
                  </a:lnTo>
                  <a:cubicBezTo>
                    <a:pt x="2531915" y="2878834"/>
                    <a:pt x="2520858" y="2889890"/>
                    <a:pt x="2507219" y="2889890"/>
                  </a:cubicBezTo>
                  <a:lnTo>
                    <a:pt x="24696" y="2889890"/>
                  </a:lnTo>
                  <a:cubicBezTo>
                    <a:pt x="11057" y="2889890"/>
                    <a:pt x="0" y="2878834"/>
                    <a:pt x="0" y="2865194"/>
                  </a:cubicBezTo>
                  <a:lnTo>
                    <a:pt x="0" y="24696"/>
                  </a:lnTo>
                  <a:cubicBezTo>
                    <a:pt x="0" y="11057"/>
                    <a:pt x="11057" y="0"/>
                    <a:pt x="24696" y="0"/>
                  </a:cubicBezTo>
                  <a:close/>
                </a:path>
              </a:pathLst>
            </a:custGeom>
            <a:blipFill>
              <a:blip r:embed="rId5"/>
              <a:stretch>
                <a:fillRect l="-10072" t="0" r="-10072" b="0"/>
              </a:stretch>
            </a:blipFill>
            <a:ln w="571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true" flipV="false" rot="0">
            <a:off x="15129839" y="6977058"/>
            <a:ext cx="3672613" cy="3309942"/>
          </a:xfrm>
          <a:custGeom>
            <a:avLst/>
            <a:gdLst/>
            <a:ahLst/>
            <a:cxnLst/>
            <a:rect r="r" b="b" t="t" l="l"/>
            <a:pathLst>
              <a:path h="3309942" w="3672613">
                <a:moveTo>
                  <a:pt x="3672613" y="0"/>
                </a:moveTo>
                <a:lnTo>
                  <a:pt x="0" y="0"/>
                </a:lnTo>
                <a:lnTo>
                  <a:pt x="0" y="3309942"/>
                </a:lnTo>
                <a:lnTo>
                  <a:pt x="3672613" y="3309942"/>
                </a:lnTo>
                <a:lnTo>
                  <a:pt x="3672613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78802" y="4097785"/>
            <a:ext cx="7815550" cy="4181320"/>
          </a:xfrm>
          <a:custGeom>
            <a:avLst/>
            <a:gdLst/>
            <a:ahLst/>
            <a:cxnLst/>
            <a:rect r="r" b="b" t="t" l="l"/>
            <a:pathLst>
              <a:path h="4181320" w="7815550">
                <a:moveTo>
                  <a:pt x="0" y="0"/>
                </a:moveTo>
                <a:lnTo>
                  <a:pt x="7815551" y="0"/>
                </a:lnTo>
                <a:lnTo>
                  <a:pt x="7815551" y="4181320"/>
                </a:lnTo>
                <a:lnTo>
                  <a:pt x="0" y="41813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89274" y="1713166"/>
            <a:ext cx="9485809" cy="126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760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Trayectoria 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81380" y="-1028700"/>
            <a:ext cx="5007588" cy="5007588"/>
          </a:xfrm>
          <a:custGeom>
            <a:avLst/>
            <a:gdLst/>
            <a:ahLst/>
            <a:cxnLst/>
            <a:rect r="r" b="b" t="t" l="l"/>
            <a:pathLst>
              <a:path h="5007588" w="5007588">
                <a:moveTo>
                  <a:pt x="0" y="0"/>
                </a:moveTo>
                <a:lnTo>
                  <a:pt x="5007589" y="0"/>
                </a:lnTo>
                <a:lnTo>
                  <a:pt x="5007589" y="5007588"/>
                </a:lnTo>
                <a:lnTo>
                  <a:pt x="0" y="5007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579656" y="7153073"/>
            <a:ext cx="3672613" cy="3309942"/>
          </a:xfrm>
          <a:custGeom>
            <a:avLst/>
            <a:gdLst/>
            <a:ahLst/>
            <a:cxnLst/>
            <a:rect r="r" b="b" t="t" l="l"/>
            <a:pathLst>
              <a:path h="3309942" w="3672613">
                <a:moveTo>
                  <a:pt x="3672613" y="0"/>
                </a:moveTo>
                <a:lnTo>
                  <a:pt x="0" y="0"/>
                </a:lnTo>
                <a:lnTo>
                  <a:pt x="0" y="3309942"/>
                </a:lnTo>
                <a:lnTo>
                  <a:pt x="3672613" y="3309942"/>
                </a:lnTo>
                <a:lnTo>
                  <a:pt x="367261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341884"/>
            <a:ext cx="7908101" cy="4290145"/>
          </a:xfrm>
          <a:custGeom>
            <a:avLst/>
            <a:gdLst/>
            <a:ahLst/>
            <a:cxnLst/>
            <a:rect r="r" b="b" t="t" l="l"/>
            <a:pathLst>
              <a:path h="4290145" w="7908101">
                <a:moveTo>
                  <a:pt x="0" y="0"/>
                </a:moveTo>
                <a:lnTo>
                  <a:pt x="7908101" y="0"/>
                </a:lnTo>
                <a:lnTo>
                  <a:pt x="7908101" y="4290145"/>
                </a:lnTo>
                <a:lnTo>
                  <a:pt x="0" y="42901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95580" y="4341884"/>
            <a:ext cx="7763720" cy="4308865"/>
          </a:xfrm>
          <a:custGeom>
            <a:avLst/>
            <a:gdLst/>
            <a:ahLst/>
            <a:cxnLst/>
            <a:rect r="r" b="b" t="t" l="l"/>
            <a:pathLst>
              <a:path h="4308865" w="7763720">
                <a:moveTo>
                  <a:pt x="0" y="0"/>
                </a:moveTo>
                <a:lnTo>
                  <a:pt x="7763720" y="0"/>
                </a:lnTo>
                <a:lnTo>
                  <a:pt x="7763720" y="4308865"/>
                </a:lnTo>
                <a:lnTo>
                  <a:pt x="0" y="43088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96668" y="914400"/>
            <a:ext cx="9094664" cy="126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760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Trayectoria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38185" y="-2150089"/>
            <a:ext cx="5007588" cy="5007588"/>
          </a:xfrm>
          <a:custGeom>
            <a:avLst/>
            <a:gdLst/>
            <a:ahLst/>
            <a:cxnLst/>
            <a:rect r="r" b="b" t="t" l="l"/>
            <a:pathLst>
              <a:path h="5007588" w="5007588">
                <a:moveTo>
                  <a:pt x="0" y="0"/>
                </a:moveTo>
                <a:lnTo>
                  <a:pt x="5007589" y="0"/>
                </a:lnTo>
                <a:lnTo>
                  <a:pt x="5007589" y="5007589"/>
                </a:lnTo>
                <a:lnTo>
                  <a:pt x="0" y="5007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302342" y="1028700"/>
            <a:ext cx="7023633" cy="8229600"/>
            <a:chOff x="0" y="0"/>
            <a:chExt cx="2466405" cy="2889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66405" cy="2889890"/>
            </a:xfrm>
            <a:custGeom>
              <a:avLst/>
              <a:gdLst/>
              <a:ahLst/>
              <a:cxnLst/>
              <a:rect r="r" b="b" t="t" l="l"/>
              <a:pathLst>
                <a:path h="2889890" w="2466405">
                  <a:moveTo>
                    <a:pt x="25352" y="0"/>
                  </a:moveTo>
                  <a:lnTo>
                    <a:pt x="2441053" y="0"/>
                  </a:lnTo>
                  <a:cubicBezTo>
                    <a:pt x="2447777" y="0"/>
                    <a:pt x="2454225" y="2671"/>
                    <a:pt x="2458980" y="7425"/>
                  </a:cubicBezTo>
                  <a:cubicBezTo>
                    <a:pt x="2463734" y="12180"/>
                    <a:pt x="2466405" y="18628"/>
                    <a:pt x="2466405" y="25352"/>
                  </a:cubicBezTo>
                  <a:lnTo>
                    <a:pt x="2466405" y="2864538"/>
                  </a:lnTo>
                  <a:cubicBezTo>
                    <a:pt x="2466405" y="2871262"/>
                    <a:pt x="2463734" y="2877711"/>
                    <a:pt x="2458980" y="2882465"/>
                  </a:cubicBezTo>
                  <a:cubicBezTo>
                    <a:pt x="2454225" y="2887220"/>
                    <a:pt x="2447777" y="2889890"/>
                    <a:pt x="2441053" y="2889890"/>
                  </a:cubicBezTo>
                  <a:lnTo>
                    <a:pt x="25352" y="2889890"/>
                  </a:lnTo>
                  <a:cubicBezTo>
                    <a:pt x="11351" y="2889890"/>
                    <a:pt x="0" y="2878540"/>
                    <a:pt x="0" y="2864538"/>
                  </a:cubicBezTo>
                  <a:lnTo>
                    <a:pt x="0" y="25352"/>
                  </a:lnTo>
                  <a:cubicBezTo>
                    <a:pt x="0" y="18628"/>
                    <a:pt x="2671" y="12180"/>
                    <a:pt x="7425" y="7425"/>
                  </a:cubicBezTo>
                  <a:cubicBezTo>
                    <a:pt x="12180" y="2671"/>
                    <a:pt x="18628" y="0"/>
                    <a:pt x="25352" y="0"/>
                  </a:cubicBezTo>
                  <a:close/>
                </a:path>
              </a:pathLst>
            </a:custGeom>
            <a:blipFill>
              <a:blip r:embed="rId5"/>
              <a:stretch>
                <a:fillRect l="-12241" t="0" r="-12241" b="0"/>
              </a:stretch>
            </a:blipFill>
            <a:ln w="571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true" flipV="true" rot="0">
            <a:off x="-2033262" y="7351426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4839225" y="4361352"/>
                </a:moveTo>
                <a:lnTo>
                  <a:pt x="0" y="4361352"/>
                </a:lnTo>
                <a:lnTo>
                  <a:pt x="0" y="0"/>
                </a:lnTo>
                <a:lnTo>
                  <a:pt x="4839225" y="0"/>
                </a:lnTo>
                <a:lnTo>
                  <a:pt x="4839225" y="4361352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3994" y="4535806"/>
            <a:ext cx="7586331" cy="4248346"/>
          </a:xfrm>
          <a:custGeom>
            <a:avLst/>
            <a:gdLst/>
            <a:ahLst/>
            <a:cxnLst/>
            <a:rect r="r" b="b" t="t" l="l"/>
            <a:pathLst>
              <a:path h="4248346" w="7586331">
                <a:moveTo>
                  <a:pt x="0" y="0"/>
                </a:moveTo>
                <a:lnTo>
                  <a:pt x="7586331" y="0"/>
                </a:lnTo>
                <a:lnTo>
                  <a:pt x="7586331" y="4248346"/>
                </a:lnTo>
                <a:lnTo>
                  <a:pt x="0" y="42483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565257"/>
            <a:ext cx="9273642" cy="126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760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Trayectoria 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20495" y="-1750815"/>
            <a:ext cx="5007588" cy="5007588"/>
          </a:xfrm>
          <a:custGeom>
            <a:avLst/>
            <a:gdLst/>
            <a:ahLst/>
            <a:cxnLst/>
            <a:rect r="r" b="b" t="t" l="l"/>
            <a:pathLst>
              <a:path h="5007588" w="5007588">
                <a:moveTo>
                  <a:pt x="0" y="0"/>
                </a:moveTo>
                <a:lnTo>
                  <a:pt x="5007588" y="0"/>
                </a:lnTo>
                <a:lnTo>
                  <a:pt x="5007588" y="5007589"/>
                </a:lnTo>
                <a:lnTo>
                  <a:pt x="0" y="5007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033262" y="7351426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4839225" y="4361352"/>
                </a:moveTo>
                <a:lnTo>
                  <a:pt x="0" y="4361352"/>
                </a:lnTo>
                <a:lnTo>
                  <a:pt x="0" y="0"/>
                </a:lnTo>
                <a:lnTo>
                  <a:pt x="4839225" y="0"/>
                </a:lnTo>
                <a:lnTo>
                  <a:pt x="4839225" y="436135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073441"/>
            <a:ext cx="7836463" cy="4359033"/>
          </a:xfrm>
          <a:custGeom>
            <a:avLst/>
            <a:gdLst/>
            <a:ahLst/>
            <a:cxnLst/>
            <a:rect r="r" b="b" t="t" l="l"/>
            <a:pathLst>
              <a:path h="4359033" w="7836463">
                <a:moveTo>
                  <a:pt x="0" y="0"/>
                </a:moveTo>
                <a:lnTo>
                  <a:pt x="7836463" y="0"/>
                </a:lnTo>
                <a:lnTo>
                  <a:pt x="7836463" y="4359033"/>
                </a:lnTo>
                <a:lnTo>
                  <a:pt x="0" y="4359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92649" y="4073441"/>
            <a:ext cx="7766651" cy="4359033"/>
          </a:xfrm>
          <a:custGeom>
            <a:avLst/>
            <a:gdLst/>
            <a:ahLst/>
            <a:cxnLst/>
            <a:rect r="r" b="b" t="t" l="l"/>
            <a:pathLst>
              <a:path h="4359033" w="7766651">
                <a:moveTo>
                  <a:pt x="0" y="0"/>
                </a:moveTo>
                <a:lnTo>
                  <a:pt x="7766651" y="0"/>
                </a:lnTo>
                <a:lnTo>
                  <a:pt x="7766651" y="4359033"/>
                </a:lnTo>
                <a:lnTo>
                  <a:pt x="0" y="43590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07179" y="914400"/>
            <a:ext cx="9273642" cy="126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760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Trayectoria 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81380" y="-1028700"/>
            <a:ext cx="5007588" cy="5007588"/>
          </a:xfrm>
          <a:custGeom>
            <a:avLst/>
            <a:gdLst/>
            <a:ahLst/>
            <a:cxnLst/>
            <a:rect r="r" b="b" t="t" l="l"/>
            <a:pathLst>
              <a:path h="5007588" w="5007588">
                <a:moveTo>
                  <a:pt x="0" y="0"/>
                </a:moveTo>
                <a:lnTo>
                  <a:pt x="5007589" y="0"/>
                </a:lnTo>
                <a:lnTo>
                  <a:pt x="5007589" y="5007588"/>
                </a:lnTo>
                <a:lnTo>
                  <a:pt x="0" y="5007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7210185" cy="8229600"/>
            <a:chOff x="0" y="0"/>
            <a:chExt cx="2531915" cy="2889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1915" cy="2889890"/>
            </a:xfrm>
            <a:custGeom>
              <a:avLst/>
              <a:gdLst/>
              <a:ahLst/>
              <a:cxnLst/>
              <a:rect r="r" b="b" t="t" l="l"/>
              <a:pathLst>
                <a:path h="2889890" w="2531915">
                  <a:moveTo>
                    <a:pt x="24696" y="0"/>
                  </a:moveTo>
                  <a:lnTo>
                    <a:pt x="2507219" y="0"/>
                  </a:lnTo>
                  <a:cubicBezTo>
                    <a:pt x="2520858" y="0"/>
                    <a:pt x="2531915" y="11057"/>
                    <a:pt x="2531915" y="24696"/>
                  </a:cubicBezTo>
                  <a:lnTo>
                    <a:pt x="2531915" y="2865194"/>
                  </a:lnTo>
                  <a:cubicBezTo>
                    <a:pt x="2531915" y="2878834"/>
                    <a:pt x="2520858" y="2889890"/>
                    <a:pt x="2507219" y="2889890"/>
                  </a:cubicBezTo>
                  <a:lnTo>
                    <a:pt x="24696" y="2889890"/>
                  </a:lnTo>
                  <a:cubicBezTo>
                    <a:pt x="11057" y="2889890"/>
                    <a:pt x="0" y="2878834"/>
                    <a:pt x="0" y="2865194"/>
                  </a:cubicBezTo>
                  <a:lnTo>
                    <a:pt x="0" y="24696"/>
                  </a:lnTo>
                  <a:cubicBezTo>
                    <a:pt x="0" y="11057"/>
                    <a:pt x="11057" y="0"/>
                    <a:pt x="24696" y="0"/>
                  </a:cubicBezTo>
                  <a:close/>
                </a:path>
              </a:pathLst>
            </a:custGeom>
            <a:blipFill>
              <a:blip r:embed="rId5"/>
              <a:stretch>
                <a:fillRect l="-10550" t="0" r="-10550" b="0"/>
              </a:stretch>
            </a:blipFill>
            <a:ln w="571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true" flipV="false" rot="0">
            <a:off x="15129839" y="6977058"/>
            <a:ext cx="3672613" cy="3309942"/>
          </a:xfrm>
          <a:custGeom>
            <a:avLst/>
            <a:gdLst/>
            <a:ahLst/>
            <a:cxnLst/>
            <a:rect r="r" b="b" t="t" l="l"/>
            <a:pathLst>
              <a:path h="3309942" w="3672613">
                <a:moveTo>
                  <a:pt x="3672613" y="0"/>
                </a:moveTo>
                <a:lnTo>
                  <a:pt x="0" y="0"/>
                </a:lnTo>
                <a:lnTo>
                  <a:pt x="0" y="3309942"/>
                </a:lnTo>
                <a:lnTo>
                  <a:pt x="3672613" y="3309942"/>
                </a:lnTo>
                <a:lnTo>
                  <a:pt x="3672613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57919" y="4140326"/>
            <a:ext cx="7691031" cy="4297364"/>
          </a:xfrm>
          <a:custGeom>
            <a:avLst/>
            <a:gdLst/>
            <a:ahLst/>
            <a:cxnLst/>
            <a:rect r="r" b="b" t="t" l="l"/>
            <a:pathLst>
              <a:path h="4297364" w="7691031">
                <a:moveTo>
                  <a:pt x="0" y="0"/>
                </a:moveTo>
                <a:lnTo>
                  <a:pt x="7691032" y="0"/>
                </a:lnTo>
                <a:lnTo>
                  <a:pt x="7691032" y="4297364"/>
                </a:lnTo>
                <a:lnTo>
                  <a:pt x="0" y="42973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91303" y="1718193"/>
            <a:ext cx="9564039" cy="126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760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Trayectoria 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81380" y="-1028700"/>
            <a:ext cx="5007588" cy="5007588"/>
          </a:xfrm>
          <a:custGeom>
            <a:avLst/>
            <a:gdLst/>
            <a:ahLst/>
            <a:cxnLst/>
            <a:rect r="r" b="b" t="t" l="l"/>
            <a:pathLst>
              <a:path h="5007588" w="5007588">
                <a:moveTo>
                  <a:pt x="0" y="0"/>
                </a:moveTo>
                <a:lnTo>
                  <a:pt x="5007589" y="0"/>
                </a:lnTo>
                <a:lnTo>
                  <a:pt x="5007589" y="5007588"/>
                </a:lnTo>
                <a:lnTo>
                  <a:pt x="0" y="5007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755672" y="7250859"/>
            <a:ext cx="3672613" cy="3309942"/>
          </a:xfrm>
          <a:custGeom>
            <a:avLst/>
            <a:gdLst/>
            <a:ahLst/>
            <a:cxnLst/>
            <a:rect r="r" b="b" t="t" l="l"/>
            <a:pathLst>
              <a:path h="3309942" w="3672613">
                <a:moveTo>
                  <a:pt x="3672613" y="0"/>
                </a:moveTo>
                <a:lnTo>
                  <a:pt x="0" y="0"/>
                </a:lnTo>
                <a:lnTo>
                  <a:pt x="0" y="3309943"/>
                </a:lnTo>
                <a:lnTo>
                  <a:pt x="3672613" y="3309943"/>
                </a:lnTo>
                <a:lnTo>
                  <a:pt x="367261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978888"/>
            <a:ext cx="7920109" cy="4405561"/>
          </a:xfrm>
          <a:custGeom>
            <a:avLst/>
            <a:gdLst/>
            <a:ahLst/>
            <a:cxnLst/>
            <a:rect r="r" b="b" t="t" l="l"/>
            <a:pathLst>
              <a:path h="4405561" w="7920109">
                <a:moveTo>
                  <a:pt x="0" y="0"/>
                </a:moveTo>
                <a:lnTo>
                  <a:pt x="7920109" y="0"/>
                </a:lnTo>
                <a:lnTo>
                  <a:pt x="7920109" y="4405561"/>
                </a:lnTo>
                <a:lnTo>
                  <a:pt x="0" y="44055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49189" y="3978888"/>
            <a:ext cx="8010111" cy="4405561"/>
          </a:xfrm>
          <a:custGeom>
            <a:avLst/>
            <a:gdLst/>
            <a:ahLst/>
            <a:cxnLst/>
            <a:rect r="r" b="b" t="t" l="l"/>
            <a:pathLst>
              <a:path h="4405561" w="8010111">
                <a:moveTo>
                  <a:pt x="0" y="0"/>
                </a:moveTo>
                <a:lnTo>
                  <a:pt x="8010111" y="0"/>
                </a:lnTo>
                <a:lnTo>
                  <a:pt x="8010111" y="4405561"/>
                </a:lnTo>
                <a:lnTo>
                  <a:pt x="0" y="44055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37996" y="914400"/>
            <a:ext cx="9212008" cy="126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760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Trayectoria 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81380" y="-1028700"/>
            <a:ext cx="5007588" cy="5007588"/>
          </a:xfrm>
          <a:custGeom>
            <a:avLst/>
            <a:gdLst/>
            <a:ahLst/>
            <a:cxnLst/>
            <a:rect r="r" b="b" t="t" l="l"/>
            <a:pathLst>
              <a:path h="5007588" w="5007588">
                <a:moveTo>
                  <a:pt x="0" y="0"/>
                </a:moveTo>
                <a:lnTo>
                  <a:pt x="5007589" y="0"/>
                </a:lnTo>
                <a:lnTo>
                  <a:pt x="5007589" y="5007588"/>
                </a:lnTo>
                <a:lnTo>
                  <a:pt x="0" y="5007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849145" y="7356747"/>
            <a:ext cx="4219811" cy="3803105"/>
          </a:xfrm>
          <a:custGeom>
            <a:avLst/>
            <a:gdLst/>
            <a:ahLst/>
            <a:cxnLst/>
            <a:rect r="r" b="b" t="t" l="l"/>
            <a:pathLst>
              <a:path h="3803105" w="4219811">
                <a:moveTo>
                  <a:pt x="4219811" y="0"/>
                </a:moveTo>
                <a:lnTo>
                  <a:pt x="0" y="0"/>
                </a:lnTo>
                <a:lnTo>
                  <a:pt x="0" y="3803106"/>
                </a:lnTo>
                <a:lnTo>
                  <a:pt x="4219811" y="3803106"/>
                </a:lnTo>
                <a:lnTo>
                  <a:pt x="4219811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11795" y="2254326"/>
            <a:ext cx="906441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Conclusiones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33360" y="4427837"/>
            <a:ext cx="10021281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 comprobó que las señales de velocidad lineal (u) y angular (\omega), equivalentes a las enviadas por el tópico /cmd_vel, determinan directamente la trayectoria del Puzzlebot.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mode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 cinemático diferencial y el método de Euler permitieron calcular de forma adecuada la pose del robot ((x,y,\phi)) a lo largo del tiempo.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Las simulaciones y gráficas obtenidas en MATLAB validaron el comportamiento esperado en las tres trayectorias planteadas, así como las velocidades angulares de las ruedas.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DAHG1bTKooc</dc:identifier>
  <dcterms:modified xsi:type="dcterms:W3CDTF">2011-08-01T06:04:30Z</dcterms:modified>
  <cp:revision>1</cp:revision>
  <dc:title>Actividad 3.2</dc:title>
</cp:coreProperties>
</file>